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75" r:id="rId6"/>
    <p:sldId id="269" r:id="rId7"/>
    <p:sldId id="268" r:id="rId8"/>
    <p:sldId id="276" r:id="rId9"/>
    <p:sldId id="277" r:id="rId10"/>
    <p:sldId id="274" r:id="rId11"/>
    <p:sldId id="278" r:id="rId12"/>
    <p:sldId id="279" r:id="rId13"/>
    <p:sldId id="262" r:id="rId14"/>
    <p:sldId id="272" r:id="rId15"/>
    <p:sldId id="273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4/30/2026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4/30/2026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4/30/2026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lg-ulb/creditcardfraud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9514" y="332656"/>
            <a:ext cx="9509796" cy="2000251"/>
          </a:xfrm>
        </p:spPr>
        <p:txBody>
          <a:bodyPr>
            <a:normAutofit/>
          </a:bodyPr>
          <a:lstStyle/>
          <a:p>
            <a:pPr algn="ctr"/>
            <a:r>
              <a:rPr lang="en-US" sz="4000" i="1" dirty="0">
                <a:latin typeface="Algerian" panose="04020705040A02060702" pitchFamily="82" charset="0"/>
              </a:rPr>
              <a:t>Credit Card Fraud Detection using Spark and H2O</a:t>
            </a:r>
            <a:endParaRPr lang="en-US" sz="4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726749" y="2552700"/>
            <a:ext cx="8735325" cy="1752600"/>
          </a:xfrm>
        </p:spPr>
        <p:txBody>
          <a:bodyPr>
            <a:normAutofit/>
          </a:bodyPr>
          <a:lstStyle/>
          <a:p>
            <a:pPr algn="ctr"/>
            <a:r>
              <a:rPr lang="en-US" sz="1400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Ramakrishna Mission Vivekananda Educational and Research Institute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43DE7-99CC-DAD2-14F9-2DED8A9AEE5A}"/>
              </a:ext>
            </a:extLst>
          </p:cNvPr>
          <p:cNvSpPr txBox="1"/>
          <p:nvPr/>
        </p:nvSpPr>
        <p:spPr>
          <a:xfrm>
            <a:off x="1643513" y="3140098"/>
            <a:ext cx="89017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Castellar" panose="020A0402060406010301" pitchFamily="18" charset="0"/>
              </a:rPr>
              <a:t>B2530087 : Sayan Ghosh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Castellar" panose="020A0402060406010301" pitchFamily="18" charset="0"/>
              </a:rPr>
              <a:t>B2530096 : Pritam Kayal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Castellar" panose="020A0402060406010301" pitchFamily="18" charset="0"/>
              </a:rPr>
              <a:t>B2530079 : Niladri Banerjee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BA1A-D732-2648-406A-2D6B22352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371D4E9-9B01-CFCA-1844-B7D9A8FE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404664"/>
            <a:ext cx="10564161" cy="575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latin typeface="Colonna MT" panose="04020805060202030203" pitchFamily="82" charset="0"/>
              </a:rPr>
              <a:t>Problem Statement </a:t>
            </a:r>
            <a:endParaRPr lang="en-IN" sz="4000" dirty="0">
              <a:latin typeface="Colonna MT" panose="04020805060202030203" pitchFamily="8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F8477-8B68-6F89-4C45-246FBC603540}"/>
              </a:ext>
            </a:extLst>
          </p:cNvPr>
          <p:cNvSpPr txBox="1"/>
          <p:nvPr/>
        </p:nvSpPr>
        <p:spPr>
          <a:xfrm>
            <a:off x="981844" y="979739"/>
            <a:ext cx="100811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Credit card fraud is a major financial threat worldwide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Fraud transactions are very rare (~0.17%) → highly imbalanced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 detection systems fail on large-scale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Need for </a:t>
            </a:r>
            <a:r>
              <a:rPr lang="en-US" sz="2800" b="1" dirty="0"/>
              <a:t>scalable and intelligent fraud detection system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5318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476672"/>
            <a:ext cx="10360501" cy="720080"/>
          </a:xfrm>
        </p:spPr>
        <p:txBody>
          <a:bodyPr/>
          <a:lstStyle/>
          <a:p>
            <a:r>
              <a:rPr lang="en-IN" dirty="0">
                <a:latin typeface="Colonna MT" panose="04020805060202030203" pitchFamily="82" charset="0"/>
              </a:rPr>
              <a:t>Dataset Overview </a:t>
            </a:r>
            <a:endParaRPr lang="en-US" dirty="0">
              <a:latin typeface="Colonna MT" panose="04020805060202030203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268760"/>
            <a:ext cx="9988097" cy="4465320"/>
          </a:xfrm>
        </p:spPr>
        <p:txBody>
          <a:bodyPr>
            <a:normAutofit/>
          </a:bodyPr>
          <a:lstStyle/>
          <a:p>
            <a:r>
              <a:rPr lang="en-IN" sz="2400" b="1" dirty="0"/>
              <a:t>Source : Creditcard.csv(</a:t>
            </a:r>
            <a:r>
              <a:rPr lang="en-IN" sz="2400" b="1" dirty="0">
                <a:hlinkClick r:id="rId2"/>
              </a:rPr>
              <a:t>https://www.kaggle.com/datasets/mlg-ulb/creditcardfraud</a:t>
            </a:r>
            <a:r>
              <a:rPr lang="en-IN" sz="2400" b="1" dirty="0"/>
              <a:t>)</a:t>
            </a:r>
          </a:p>
          <a:p>
            <a:r>
              <a:rPr lang="en-IN" sz="2400" b="1" dirty="0"/>
              <a:t>Total Records:</a:t>
            </a:r>
            <a:r>
              <a:rPr lang="en-IN" sz="2400" dirty="0"/>
              <a:t> 284,807</a:t>
            </a:r>
            <a:endParaRPr lang="en-US" sz="2400" dirty="0"/>
          </a:p>
          <a:p>
            <a:r>
              <a:rPr lang="en-IN" sz="2400" b="1" dirty="0"/>
              <a:t>Total Features:</a:t>
            </a:r>
            <a:r>
              <a:rPr lang="en-IN" sz="2400" dirty="0"/>
              <a:t> 31 columns</a:t>
            </a:r>
            <a:r>
              <a:rPr lang="en-US" sz="2400" dirty="0"/>
              <a:t>.</a:t>
            </a:r>
          </a:p>
          <a:p>
            <a:r>
              <a:rPr lang="en-US" sz="2400" b="1" dirty="0"/>
              <a:t>Dataset Type:</a:t>
            </a:r>
            <a:r>
              <a:rPr lang="en-US" sz="2400" dirty="0"/>
              <a:t> Binary classification (Fraud Detection)</a:t>
            </a:r>
          </a:p>
          <a:p>
            <a:r>
              <a:rPr lang="en-IN" sz="2400" dirty="0"/>
              <a:t>Dataset is highly imbalanced</a:t>
            </a:r>
          </a:p>
          <a:p>
            <a:r>
              <a:rPr lang="en-US" sz="2400" dirty="0"/>
              <a:t>Target column:</a:t>
            </a:r>
          </a:p>
          <a:p>
            <a:pPr lvl="1"/>
            <a:r>
              <a:rPr lang="en-US" dirty="0"/>
              <a:t>0 → Normal </a:t>
            </a:r>
          </a:p>
          <a:p>
            <a:pPr lvl="1"/>
            <a:r>
              <a:rPr lang="en-US" dirty="0"/>
              <a:t>1 → Fraud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341884" y="1218307"/>
            <a:ext cx="10360501" cy="4462272"/>
          </a:xfrm>
        </p:spPr>
        <p:txBody>
          <a:bodyPr>
            <a:normAutofit/>
          </a:bodyPr>
          <a:lstStyle/>
          <a:p>
            <a:r>
              <a:rPr lang="en-US" sz="2400" dirty="0"/>
              <a:t>Handled </a:t>
            </a:r>
            <a:r>
              <a:rPr lang="en-US" sz="2400" b="1" dirty="0"/>
              <a:t>class imbalance</a:t>
            </a:r>
            <a:r>
              <a:rPr lang="en-US" sz="2400" dirty="0"/>
              <a:t> (</a:t>
            </a:r>
            <a:r>
              <a:rPr lang="en-US" sz="2400" dirty="0" err="1"/>
              <a:t>undersampling</a:t>
            </a:r>
            <a:r>
              <a:rPr lang="en-US" sz="2400" dirty="0"/>
              <a:t> / weighting)</a:t>
            </a:r>
          </a:p>
          <a:p>
            <a:r>
              <a:rPr lang="en-US" sz="2400" dirty="0"/>
              <a:t>Split dataset into </a:t>
            </a:r>
            <a:r>
              <a:rPr lang="en-US" sz="2400" b="1" dirty="0"/>
              <a:t>training and testing sets</a:t>
            </a:r>
          </a:p>
          <a:p>
            <a:r>
              <a:rPr lang="en-US" sz="2400" dirty="0"/>
              <a:t>Cached data using </a:t>
            </a:r>
            <a:r>
              <a:rPr lang="en-US" sz="2400" dirty="0" err="1"/>
              <a:t>df.persist</a:t>
            </a:r>
            <a:r>
              <a:rPr lang="en-US" sz="2400" dirty="0"/>
              <a:t>() for efficiency</a:t>
            </a:r>
          </a:p>
          <a:p>
            <a:r>
              <a:rPr lang="en-IN" sz="2400" dirty="0"/>
              <a:t>Used Spark for:</a:t>
            </a:r>
          </a:p>
          <a:p>
            <a:pPr lvl="1"/>
            <a:r>
              <a:rPr lang="en-IN" dirty="0"/>
              <a:t>Data distribution</a:t>
            </a:r>
          </a:p>
          <a:p>
            <a:pPr lvl="1"/>
            <a:r>
              <a:rPr lang="en-IN" dirty="0"/>
              <a:t>Parallel processing</a:t>
            </a:r>
            <a:endParaRPr lang="en-IN" dirty="0">
              <a:latin typeface="Consolas" panose="020B0609020204030204" pitchFamily="49" charset="0"/>
            </a:endParaRPr>
          </a:p>
          <a:p>
            <a:pPr lvl="1"/>
            <a:endParaRPr lang="en-IN" dirty="0">
              <a:latin typeface="Consolas" panose="020B0609020204030204" pitchFamily="49" charset="0"/>
            </a:endParaRPr>
          </a:p>
          <a:p>
            <a:pPr lvl="1"/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8B35CA-4811-172F-AEBC-F49E4BE1E7C1}"/>
              </a:ext>
            </a:extLst>
          </p:cNvPr>
          <p:cNvSpPr txBox="1"/>
          <p:nvPr/>
        </p:nvSpPr>
        <p:spPr>
          <a:xfrm>
            <a:off x="1341884" y="54868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lonna MT" panose="04020805060202030203" pitchFamily="82" charset="0"/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5C03-DF43-F434-E54C-777FB3A3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2C3F207-A579-E514-73F3-ABF5C9786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218307"/>
            <a:ext cx="10360501" cy="4462272"/>
          </a:xfrm>
        </p:spPr>
        <p:txBody>
          <a:bodyPr>
            <a:normAutofit/>
          </a:bodyPr>
          <a:lstStyle/>
          <a:p>
            <a:pPr marL="530340" indent="-457200"/>
            <a:r>
              <a:rPr lang="en-IN" sz="2400" dirty="0">
                <a:latin typeface="Consolas" panose="020B0609020204030204" pitchFamily="49" charset="0"/>
              </a:rPr>
              <a:t>Spark:</a:t>
            </a:r>
          </a:p>
          <a:p>
            <a:pPr marL="835086" lvl="1" indent="-457200"/>
            <a:r>
              <a:rPr lang="en-IN" sz="2000" dirty="0"/>
              <a:t>Distributed data processing</a:t>
            </a:r>
          </a:p>
          <a:p>
            <a:pPr marL="835086" lvl="1" indent="-457200"/>
            <a:r>
              <a:rPr lang="en-IN" sz="2000" dirty="0"/>
              <a:t>Handles large datasets efficiently</a:t>
            </a:r>
            <a:endParaRPr lang="en-IN" sz="2000" dirty="0">
              <a:latin typeface="Consolas" panose="020B0609020204030204" pitchFamily="49" charset="0"/>
            </a:endParaRPr>
          </a:p>
          <a:p>
            <a:pPr marL="530340" indent="-457200"/>
            <a:r>
              <a:rPr lang="en-IN" sz="2400" dirty="0">
                <a:latin typeface="Consolas" panose="020B0609020204030204" pitchFamily="49" charset="0"/>
              </a:rPr>
              <a:t>H2O:</a:t>
            </a:r>
          </a:p>
          <a:p>
            <a:pPr marL="835086" lvl="1" indent="-457200"/>
            <a:r>
              <a:rPr lang="en-IN" sz="2000" dirty="0"/>
              <a:t>Distributed machine learning framework</a:t>
            </a:r>
          </a:p>
          <a:p>
            <a:pPr marL="835086" lvl="1" indent="-457200"/>
            <a:r>
              <a:rPr lang="en-IN" sz="2000" dirty="0"/>
              <a:t>Optimized algorithms</a:t>
            </a:r>
            <a:endParaRPr lang="en-IN" sz="2000" dirty="0">
              <a:latin typeface="Consolas" panose="020B0609020204030204" pitchFamily="49" charset="0"/>
            </a:endParaRPr>
          </a:p>
          <a:p>
            <a:pPr marL="530340" indent="-457200"/>
            <a:r>
              <a:rPr lang="en-IN" sz="2400" dirty="0">
                <a:latin typeface="Consolas" panose="020B0609020204030204" pitchFamily="49" charset="0"/>
              </a:rPr>
              <a:t>Sparkling Water:</a:t>
            </a:r>
          </a:p>
          <a:p>
            <a:pPr marL="835086" lvl="1" indent="-457200"/>
            <a:r>
              <a:rPr lang="en-IN" sz="2000" dirty="0"/>
              <a:t>Integration of Spark + H2O</a:t>
            </a:r>
            <a:endParaRPr lang="en-IN" sz="2000" dirty="0">
              <a:latin typeface="Consolas" panose="020B0609020204030204" pitchFamily="49" charset="0"/>
            </a:endParaRPr>
          </a:p>
          <a:p>
            <a:pPr marL="73140" indent="0">
              <a:buNone/>
            </a:pPr>
            <a:endParaRPr lang="en-IN" sz="2400" dirty="0">
              <a:latin typeface="Consolas" panose="020B0609020204030204" pitchFamily="49" charset="0"/>
            </a:endParaRPr>
          </a:p>
          <a:p>
            <a:pPr lvl="1"/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A18A95-90C4-349F-7AF9-C82591891765}"/>
              </a:ext>
            </a:extLst>
          </p:cNvPr>
          <p:cNvSpPr txBox="1"/>
          <p:nvPr/>
        </p:nvSpPr>
        <p:spPr>
          <a:xfrm>
            <a:off x="1341884" y="54868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lonna MT" panose="04020805060202030203" pitchFamily="82" charset="0"/>
              </a:rPr>
              <a:t>Why Spark + H2O</a:t>
            </a:r>
          </a:p>
        </p:txBody>
      </p:sp>
    </p:spTree>
    <p:extLst>
      <p:ext uri="{BB962C8B-B14F-4D97-AF65-F5344CB8AC3E}">
        <p14:creationId xmlns:p14="http://schemas.microsoft.com/office/powerpoint/2010/main" val="3715574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0DEA-574D-8A9B-BE91-306152D1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6F623F-8242-DDBF-1A67-0E99D05D1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218307"/>
            <a:ext cx="10360501" cy="4462272"/>
          </a:xfrm>
        </p:spPr>
        <p:txBody>
          <a:bodyPr>
            <a:normAutofit/>
          </a:bodyPr>
          <a:lstStyle/>
          <a:p>
            <a:pPr marL="530340" indent="-457200">
              <a:buFont typeface="+mj-lt"/>
              <a:buAutoNum type="arabicPeriod"/>
            </a:pPr>
            <a:r>
              <a:rPr lang="en-IN" sz="2400" dirty="0"/>
              <a:t>Spark reads CSV dataset</a:t>
            </a:r>
          </a:p>
          <a:p>
            <a:pPr marL="530340" indent="-457200">
              <a:buFont typeface="+mj-lt"/>
              <a:buAutoNum type="arabicPeriod"/>
            </a:pPr>
            <a:r>
              <a:rPr lang="en-US" sz="2400" dirty="0"/>
              <a:t>Data is partitioned across cluster nodes</a:t>
            </a:r>
          </a:p>
          <a:p>
            <a:pPr marL="530340" indent="-457200">
              <a:buFont typeface="+mj-lt"/>
              <a:buAutoNum type="arabicPeriod"/>
            </a:pPr>
            <a:r>
              <a:rPr lang="en-IN" sz="2400" dirty="0" err="1"/>
              <a:t>DataFrame</a:t>
            </a:r>
            <a:r>
              <a:rPr lang="en-IN" sz="2400" dirty="0"/>
              <a:t> converted to H2OFrame</a:t>
            </a:r>
          </a:p>
          <a:p>
            <a:pPr marL="530340" indent="-457200">
              <a:buFont typeface="+mj-lt"/>
              <a:buAutoNum type="arabicPeriod"/>
            </a:pPr>
            <a:r>
              <a:rPr lang="pt-BR" sz="2400" dirty="0"/>
              <a:t>H2O trains Random Forest model</a:t>
            </a:r>
          </a:p>
          <a:p>
            <a:pPr marL="530340" indent="-457200">
              <a:buFont typeface="+mj-lt"/>
              <a:buAutoNum type="arabicPeriod"/>
            </a:pPr>
            <a:r>
              <a:rPr lang="en-IN" sz="2400" dirty="0"/>
              <a:t>Model generates predictions</a:t>
            </a:r>
          </a:p>
          <a:p>
            <a:pPr marL="530340" indent="-457200">
              <a:buFont typeface="+mj-lt"/>
              <a:buAutoNum type="arabicPeriod"/>
            </a:pPr>
            <a:r>
              <a:rPr lang="en-US" sz="2400" dirty="0"/>
              <a:t>Results converted back to Spark </a:t>
            </a:r>
            <a:r>
              <a:rPr lang="en-US" sz="2400" dirty="0" err="1"/>
              <a:t>DataFrame</a:t>
            </a:r>
            <a:endParaRPr lang="en-US" sz="2400" dirty="0"/>
          </a:p>
          <a:p>
            <a:pPr marL="530340" indent="-457200">
              <a:buFont typeface="+mj-lt"/>
              <a:buAutoNum type="arabicPeriod"/>
            </a:pPr>
            <a:r>
              <a:rPr lang="en-IN" sz="2400" dirty="0"/>
              <a:t>Output saved</a:t>
            </a:r>
            <a:endParaRPr lang="en-IN" sz="2400" dirty="0">
              <a:latin typeface="Consolas" panose="020B0609020204030204" pitchFamily="49" charset="0"/>
            </a:endParaRPr>
          </a:p>
          <a:p>
            <a:pPr lvl="1"/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0B71B-8A3D-8D3E-D1EF-B0E4FC3613BF}"/>
              </a:ext>
            </a:extLst>
          </p:cNvPr>
          <p:cNvSpPr txBox="1"/>
          <p:nvPr/>
        </p:nvSpPr>
        <p:spPr>
          <a:xfrm>
            <a:off x="1341884" y="54868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lonna MT" panose="04020805060202030203" pitchFamily="82" charset="0"/>
              </a:rPr>
              <a:t>Architecture Explanation</a:t>
            </a:r>
          </a:p>
        </p:txBody>
      </p:sp>
    </p:spTree>
    <p:extLst>
      <p:ext uri="{BB962C8B-B14F-4D97-AF65-F5344CB8AC3E}">
        <p14:creationId xmlns:p14="http://schemas.microsoft.com/office/powerpoint/2010/main" val="2678678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BB72-12F5-3F76-683A-49E182D7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36E41D9-2894-53E3-F43E-A26EB6C99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034" y="336539"/>
            <a:ext cx="10360501" cy="5030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Colonna MT" panose="04020805060202030203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</a:t>
            </a:r>
            <a:endParaRPr lang="en-IN" sz="3600" dirty="0">
              <a:latin typeface="Colonna MT" panose="04020805060202030203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81AD4-680A-607F-509B-76DCFE31D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884" y="979739"/>
            <a:ext cx="7935282" cy="529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24E5-B859-4895-2CEB-F38CA43C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88E1129-B2A2-ECBB-C491-4E57B7E34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218307"/>
            <a:ext cx="10360501" cy="4462272"/>
          </a:xfrm>
        </p:spPr>
        <p:txBody>
          <a:bodyPr>
            <a:normAutofit/>
          </a:bodyPr>
          <a:lstStyle/>
          <a:p>
            <a:pPr marL="530340" indent="-457200"/>
            <a:r>
              <a:rPr lang="en-IN" sz="2400" dirty="0"/>
              <a:t>Ensemble learning method</a:t>
            </a:r>
          </a:p>
          <a:p>
            <a:pPr marL="530340" indent="-457200"/>
            <a:r>
              <a:rPr lang="en-IN" sz="2400" dirty="0"/>
              <a:t>Uses multiple decision trees</a:t>
            </a:r>
          </a:p>
          <a:p>
            <a:pPr marL="530340" indent="-457200"/>
            <a:r>
              <a:rPr lang="en-IN" sz="2400" dirty="0">
                <a:latin typeface="Consolas" panose="020B0609020204030204" pitchFamily="49" charset="0"/>
              </a:rPr>
              <a:t>F</a:t>
            </a:r>
            <a:r>
              <a:rPr lang="en-US" sz="2400" dirty="0" err="1"/>
              <a:t>inal</a:t>
            </a:r>
            <a:r>
              <a:rPr lang="en-US" sz="2400" dirty="0"/>
              <a:t> prediction based on majority voting</a:t>
            </a:r>
          </a:p>
          <a:p>
            <a:pPr marL="73140" indent="0">
              <a:buNone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Random Forest?</a:t>
            </a:r>
          </a:p>
          <a:p>
            <a:pPr marL="416040" indent="-342900"/>
            <a:r>
              <a:rPr lang="en-IN" sz="2400" dirty="0"/>
              <a:t>Handles large datasets</a:t>
            </a:r>
          </a:p>
          <a:p>
            <a:pPr marL="416040" indent="-342900"/>
            <a:r>
              <a:rPr lang="en-US" sz="2400" dirty="0"/>
              <a:t>Works well with imbalanced data</a:t>
            </a:r>
          </a:p>
          <a:p>
            <a:pPr marL="416040" indent="-342900"/>
            <a:r>
              <a:rPr lang="en-IN" sz="2400" dirty="0"/>
              <a:t>Reduces overfitting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B3496C-4079-A26C-30DB-389D124A0B48}"/>
              </a:ext>
            </a:extLst>
          </p:cNvPr>
          <p:cNvSpPr txBox="1"/>
          <p:nvPr/>
        </p:nvSpPr>
        <p:spPr>
          <a:xfrm>
            <a:off x="1341884" y="54868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lonna MT" panose="04020805060202030203" pitchFamily="82" charset="0"/>
              </a:rPr>
              <a:t>Model Explanation</a:t>
            </a:r>
          </a:p>
        </p:txBody>
      </p:sp>
    </p:spTree>
    <p:extLst>
      <p:ext uri="{BB962C8B-B14F-4D97-AF65-F5344CB8AC3E}">
        <p14:creationId xmlns:p14="http://schemas.microsoft.com/office/powerpoint/2010/main" val="585214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B979-6132-ED5E-6B39-1E2B9DD0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7C724C3-45AB-7000-3660-0DE194C68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884" y="1218307"/>
            <a:ext cx="10360501" cy="4462272"/>
          </a:xfrm>
        </p:spPr>
        <p:txBody>
          <a:bodyPr>
            <a:normAutofit/>
          </a:bodyPr>
          <a:lstStyle/>
          <a:p>
            <a:pPr marL="530340" indent="-457200"/>
            <a:r>
              <a:rPr lang="en-US" dirty="0"/>
              <a:t>Precision → How many detected frauds are correct</a:t>
            </a:r>
          </a:p>
          <a:p>
            <a:pPr marL="530340" indent="-457200"/>
            <a:r>
              <a:rPr lang="en-US" dirty="0"/>
              <a:t>Recall → How many actual frauds are detected</a:t>
            </a:r>
          </a:p>
          <a:p>
            <a:pPr marL="530340" indent="-457200"/>
            <a:r>
              <a:rPr lang="en-US" dirty="0"/>
              <a:t>F1-score → Balance between precision &amp; recall</a:t>
            </a:r>
          </a:p>
          <a:p>
            <a:pPr marL="530340" indent="-457200"/>
            <a:r>
              <a:rPr lang="en-IN" dirty="0"/>
              <a:t>ROC-AUC → Overall model performance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B57A06-E9C8-8C25-855D-797EFED587D9}"/>
              </a:ext>
            </a:extLst>
          </p:cNvPr>
          <p:cNvSpPr txBox="1"/>
          <p:nvPr/>
        </p:nvSpPr>
        <p:spPr>
          <a:xfrm>
            <a:off x="1341884" y="54868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lonna MT" panose="04020805060202030203" pitchFamily="82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2821648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13892" y="260648"/>
            <a:ext cx="10360501" cy="1223963"/>
          </a:xfrm>
        </p:spPr>
        <p:txBody>
          <a:bodyPr/>
          <a:lstStyle/>
          <a:p>
            <a:r>
              <a:rPr lang="en-US" b="1" dirty="0"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Spark Framework calls :</a:t>
            </a:r>
            <a:endParaRPr lang="en-US" dirty="0">
              <a:latin typeface="Castellar" panose="020A0402060406010301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544FF-930D-89D4-0EB7-62B0B43A8030}"/>
              </a:ext>
            </a:extLst>
          </p:cNvPr>
          <p:cNvSpPr txBox="1"/>
          <p:nvPr/>
        </p:nvSpPr>
        <p:spPr>
          <a:xfrm>
            <a:off x="1413892" y="1772816"/>
            <a:ext cx="9361040" cy="3036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SparkSession.builder.getOrCreate()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Spark.read.csv()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df.repartition()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df.persist()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df.randomSpilt()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write.csv()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91CC7-639E-A98D-B103-52ED1A6AC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BF27DE-0DCE-11D3-1E8E-F90CF3D90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2" y="260648"/>
            <a:ext cx="10360501" cy="1223963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H2O Framework calls :</a:t>
            </a:r>
            <a:endParaRPr lang="en-IN" b="1" dirty="0"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8D1A7-4668-DDCC-0C25-5656D9BC257F}"/>
              </a:ext>
            </a:extLst>
          </p:cNvPr>
          <p:cNvSpPr txBox="1"/>
          <p:nvPr/>
        </p:nvSpPr>
        <p:spPr>
          <a:xfrm>
            <a:off x="1413892" y="1772816"/>
            <a:ext cx="9361040" cy="4027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H2OContext.getOrCreate()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Hc.asH2OFrame()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H2ORandomForestEstimators()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model.train()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model.model_performance()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model.predict()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hc.asSparkFrame()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h2o.save_model()</a:t>
            </a:r>
            <a:endParaRPr lang="en-IN" sz="2800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1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9012-78DD-4E5E-91FC-946E78BB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BED8F6-CC6E-B106-29F8-3E4607B5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2" y="260648"/>
            <a:ext cx="10360501" cy="1223963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 : </a:t>
            </a:r>
            <a:endParaRPr lang="en-IN" b="1" dirty="0"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02DB4-9768-EEC6-9196-1644BA001054}"/>
              </a:ext>
            </a:extLst>
          </p:cNvPr>
          <p:cNvSpPr txBox="1"/>
          <p:nvPr/>
        </p:nvSpPr>
        <p:spPr>
          <a:xfrm>
            <a:off x="1413892" y="1772816"/>
            <a:ext cx="9937104" cy="261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Spark starts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Spark reads Csv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Spark repartitons and split data across workers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HOContext connect Spark with H2O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Spark dataFrame transforms into H2OFrame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H2O trains distributed Random Forest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H2O predicts on train data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H2OFrame transforms into Spark dataFrame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Spark writes final output files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0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72</TotalTime>
  <Words>397</Words>
  <Application>Microsoft Office PowerPoint</Application>
  <PresentationFormat>Custom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Calibri</vt:lpstr>
      <vt:lpstr>Cambria Math</vt:lpstr>
      <vt:lpstr>Castellar</vt:lpstr>
      <vt:lpstr>Colonna MT</vt:lpstr>
      <vt:lpstr>Consolas</vt:lpstr>
      <vt:lpstr>Tech 16x9</vt:lpstr>
      <vt:lpstr>Credit Card Fraud Detection using Spark and H2O</vt:lpstr>
      <vt:lpstr>PowerPoint Presentation</vt:lpstr>
      <vt:lpstr>Dataset Overview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Spark Framework calls :</vt:lpstr>
      <vt:lpstr>H2O Framework calls :</vt:lpstr>
      <vt:lpstr>Framework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Pritam Kayal</dc:creator>
  <cp:lastModifiedBy>Pritam Kayal</cp:lastModifiedBy>
  <cp:revision>7</cp:revision>
  <dcterms:created xsi:type="dcterms:W3CDTF">2026-04-19T09:10:38Z</dcterms:created>
  <dcterms:modified xsi:type="dcterms:W3CDTF">2026-04-30T05:42:10Z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